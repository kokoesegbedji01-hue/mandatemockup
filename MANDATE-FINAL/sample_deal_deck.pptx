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593C"/>
                </a:solidFill>
              </a:defRPr>
            </a:pPr>
            <a:r>
              <a:t>MANDATE  /  PRIVATE MARKETS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20"/>
                </a:solidFill>
              </a:defRPr>
            </a:pPr>
            <a:r>
              <a:t>Northstar Packaging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Growth equity opportunity | Seeking $12.0M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FY2025 revenue: $28.0M | EBITDA: $4.2M | EBITDA margin: 15.0%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Founder-owned specialty packaging manufacturer | Columbus, Ohio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Not a real company or investment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5E"/>
                </a:solidFill>
              </a:defRPr>
            </a:pPr>
            <a:r>
              <a:t>ALL COMPANY DETAILS AND FIGURES ARE INVENTED FOR DEMONSTRATION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593C"/>
                </a:solidFill>
              </a:defRPr>
            </a:pPr>
            <a:r>
              <a:t>MANDATE  /  PRIVATE MARKETS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20"/>
                </a:solidFill>
              </a:defRPr>
            </a:pPr>
            <a:r>
              <a:t>Business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• Recyclable rigid packaging and custom short-run formats</a:t>
            </a:r>
          </a:p>
          <a:p>
            <a:pPr>
              <a:spcAft>
                <a:spcPts val="1200"/>
              </a:spcAft>
              <a:defRPr sz="1500">
                <a:solidFill>
                  <a:srgbClr val="253028"/>
                </a:solidFill>
              </a:defRPr>
            </a:pPr>
            <a:r>
              <a:t>• Fictional customers in food, personal care and healthcare end markets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• Production facilities in Ohio and Georgia</a:t>
            </a:r>
          </a:p>
          <a:p>
            <a:pPr>
              <a:spcAft>
                <a:spcPts val="1200"/>
              </a:spcAft>
              <a:defRPr sz="1500">
                <a:solidFill>
                  <a:srgbClr val="253028"/>
                </a:solidFill>
              </a:defRPr>
            </a:pPr>
            <a:r>
              <a:t>• Repeat-order revenue estimated at 60%; capacity utilization estimated at 78%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• All company descriptions and metrics are invented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5E"/>
                </a:solidFill>
              </a:defRPr>
            </a:pPr>
            <a:r>
              <a:t>ALL COMPANY DETAILS AND FIGURES ARE INVENTED FOR DEMONSTRATION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593C"/>
                </a:solidFill>
              </a:defRPr>
            </a:pPr>
            <a:r>
              <a:t>MANDATE  /  PRIVATE MARKETS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20"/>
                </a:solidFill>
              </a:defRPr>
            </a:pPr>
            <a:r>
              <a:t>Illustrative financial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FY2025 revenue: $28.0M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FY2025 EBITDA: $4.2M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EBITDA margin: 15.0%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Revenue growth: 14% year over year</a:t>
            </a:r>
          </a:p>
          <a:p>
            <a:pPr>
              <a:spcAft>
                <a:spcPts val="1200"/>
              </a:spcAft>
              <a:defRPr sz="1500">
                <a:solidFill>
                  <a:srgbClr val="253028"/>
                </a:solidFill>
              </a:defRPr>
            </a:pPr>
            <a:r>
              <a:t>No audited accounts, balance sheet, cash flow or quality-of-earnings report supplied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5E"/>
                </a:solidFill>
              </a:defRPr>
            </a:pPr>
            <a:r>
              <a:t>ALL COMPANY DETAILS AND FIGURES ARE INVENTED FOR DEMONSTRATION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593C"/>
                </a:solidFill>
              </a:defRPr>
            </a:pPr>
            <a:r>
              <a:t>MANDATE  /  PRIVATE MARKETS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20"/>
                </a:solidFill>
              </a:defRPr>
            </a:pPr>
            <a:r>
              <a:t>Transaction and use of proceeds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Capital sought: $12.0M of minority growth equity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$5.0M new production line and installation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$2.5M working capital and inventory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$2.0M potential regional add-on acquisition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$1.0M automation and quality systems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  <a:r>
              <a:t>$1.5M fees, contingency and general corporate purposes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5E"/>
                </a:solidFill>
              </a:defRPr>
            </a:pPr>
            <a:r>
              <a:t>ALL COMPANY DETAILS AND FIGURES ARE INVENTED FOR DEMONSTRATION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593C"/>
                </a:solidFill>
              </a:defRPr>
            </a:pPr>
            <a:r>
              <a:t>MANDATE  /  PRIVATE MARKETS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20"/>
                </a:solidFill>
              </a:defRPr>
            </a:pPr>
            <a:r>
              <a:t>Investment thesis to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53028"/>
                </a:solidFill>
              </a:defRPr>
            </a:pPr>
            <a:r>
              <a:t>1. Capacity expansion may support growth if demand and utilization are confirmed.</a:t>
            </a:r>
          </a:p>
          <a:p>
            <a:pPr>
              <a:spcAft>
                <a:spcPts val="1200"/>
              </a:spcAft>
              <a:defRPr sz="1500">
                <a:solidFill>
                  <a:srgbClr val="253028"/>
                </a:solidFill>
              </a:defRPr>
            </a:pPr>
            <a:r>
              <a:t>2. Repeat B2B relationships and custom tooling may support retention.</a:t>
            </a:r>
          </a:p>
          <a:p>
            <a:pPr>
              <a:spcAft>
                <a:spcPts val="1200"/>
              </a:spcAft>
              <a:defRPr sz="1500">
                <a:solidFill>
                  <a:srgbClr val="253028"/>
                </a:solidFill>
              </a:defRPr>
            </a:pPr>
            <a:r>
              <a:t>3. A regional add-on could broaden customer access and purchasing scale.</a:t>
            </a:r>
          </a:p>
          <a:p>
            <a:pPr>
              <a:spcAft>
                <a:spcPts val="1200"/>
              </a:spcAft>
              <a:defRPr sz="1500">
                <a:solidFill>
                  <a:srgbClr val="253028"/>
                </a:solidFill>
              </a:defRPr>
            </a:pPr>
            <a:r>
              <a:t>Each thesis point requires independent evidence and downside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5E"/>
                </a:solidFill>
              </a:defRPr>
            </a:pPr>
            <a:r>
              <a:t>ALL COMPANY DETAILS AND FIGURES ARE INVENTED FOR DEMONSTRATION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593C"/>
                </a:solidFill>
              </a:defRPr>
            </a:pPr>
            <a:r>
              <a:t>MANDATE  /  PRIVATE MARKETS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20"/>
                </a:solidFill>
              </a:defRPr>
            </a:pPr>
            <a:r>
              <a:t>Risks and diligence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53028"/>
                </a:solidFill>
              </a:defRPr>
            </a:pPr>
            <a:r>
              <a:t>Customer concentration and contract terms; resin input-price volatility; pass-through timing; plant utilization, scrap and capex; environmental compliance; quality of earnings; working-capital seasonality; management depth; acquisition valuation; debt and lien status; governance and ownership terms.</a:t>
            </a:r>
          </a:p>
          <a:p>
            <a:pPr>
              <a:spcAft>
                <a:spcPts val="1200"/>
              </a:spcAft>
              <a:defRPr sz="1800">
                <a:solidFill>
                  <a:srgbClr val="253028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253028"/>
                </a:solidFill>
              </a:defRPr>
            </a:pPr>
            <a:r>
              <a:t>DEMO DISCLAIMER: Entirely fictional; no investment recommendation or investor interest implied.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5E"/>
                </a:solidFill>
              </a:defRPr>
            </a:pPr>
            <a:r>
              <a:t>ALL COMPANY DETAILS AND FIGURES ARE INVENTED FOR DEMONSTRATION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